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634c582a846e9" /><Relationship Type="http://schemas.openxmlformats.org/officeDocument/2006/relationships/extended-properties" Target="/docProps/app.xml" Id="R47b1db3f173c415b" /><Relationship Type="http://schemas.openxmlformats.org/officeDocument/2006/relationships/officeDocument" Target="/ppt/presentation.xml" Id="Rb6f9a512b444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df89ce34624869"/>
  </p:sldMasterIdLst>
  <p:notesMasterIdLst>
    <p:notesMasterId xmlns:r="http://schemas.openxmlformats.org/officeDocument/2006/relationships" r:id="Rcf7989f61b12454b"/>
  </p:notesMasterIdLst>
  <p:sldIdLst>
    <p:sldId xmlns:r="http://schemas.openxmlformats.org/officeDocument/2006/relationships" id="256" r:id="R1b46a718546c42b7"/>
    <p:sldId xmlns:r="http://schemas.openxmlformats.org/officeDocument/2006/relationships" id="257" r:id="R9c87301ded2f40df"/>
    <p:sldId xmlns:r="http://schemas.openxmlformats.org/officeDocument/2006/relationships" id="258" r:id="R1ff6bd8cd74942a4"/>
    <p:sldId xmlns:r="http://schemas.openxmlformats.org/officeDocument/2006/relationships" id="259" r:id="Rf6ef9bbf5e5d4df2"/>
    <p:sldId xmlns:r="http://schemas.openxmlformats.org/officeDocument/2006/relationships" id="260" r:id="R4a104fb6e1a64fae"/>
    <p:sldId xmlns:r="http://schemas.openxmlformats.org/officeDocument/2006/relationships" id="261" r:id="Rb6763c910bbe4310"/>
    <p:sldId xmlns:r="http://schemas.openxmlformats.org/officeDocument/2006/relationships" id="262" r:id="Rf0b2c19125de4d09"/>
    <p:sldId xmlns:r="http://schemas.openxmlformats.org/officeDocument/2006/relationships" id="263" r:id="R1fda320242464ab6"/>
    <p:sldId xmlns:r="http://schemas.openxmlformats.org/officeDocument/2006/relationships" id="264" r:id="R9ad96788ad7b49a4"/>
    <p:sldId xmlns:r="http://schemas.openxmlformats.org/officeDocument/2006/relationships" id="265" r:id="Rd508c3b1d6514810"/>
    <p:sldId xmlns:r="http://schemas.openxmlformats.org/officeDocument/2006/relationships" id="266" r:id="R4ec71a72e8d44118"/>
    <p:sldId xmlns:r="http://schemas.openxmlformats.org/officeDocument/2006/relationships" id="267" r:id="R25a12d3b65ff4d4a"/>
    <p:sldId xmlns:r="http://schemas.openxmlformats.org/officeDocument/2006/relationships" id="268" r:id="Rdb2149ba654842d8"/>
    <p:sldId xmlns:r="http://schemas.openxmlformats.org/officeDocument/2006/relationships" id="269" r:id="Rfdfd82f8ac1d47a8"/>
    <p:sldId xmlns:r="http://schemas.openxmlformats.org/officeDocument/2006/relationships" id="270" r:id="Reb611fd7bcb04c0e"/>
    <p:sldId xmlns:r="http://schemas.openxmlformats.org/officeDocument/2006/relationships" id="271" r:id="R4bcf7df5b80549e0"/>
    <p:sldId xmlns:r="http://schemas.openxmlformats.org/officeDocument/2006/relationships" id="272" r:id="Rc5bdcda57d394a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8c006808b84d5a" /><Relationship Type="http://schemas.openxmlformats.org/officeDocument/2006/relationships/slideMaster" Target="/ppt/slideMasters/slideMaster1.xml" Id="Rb4df89ce34624869" /><Relationship Type="http://schemas.openxmlformats.org/officeDocument/2006/relationships/notesMaster" Target="/ppt/notesMasters/notesMaster1.xml" Id="Rcf7989f61b12454b" /><Relationship Type="http://schemas.openxmlformats.org/officeDocument/2006/relationships/presProps" Target="/ppt/presProps.xml" Id="R1cb19fd2c71f4b10" /><Relationship Type="http://schemas.openxmlformats.org/officeDocument/2006/relationships/tableStyles" Target="/ppt/tableStyles.xml" Id="R8c605c5e3f514767" /><Relationship Type="http://schemas.openxmlformats.org/officeDocument/2006/relationships/slide" Target="/ppt/slides/slide1.xml" Id="R1b46a718546c42b7" /><Relationship Type="http://schemas.openxmlformats.org/officeDocument/2006/relationships/slide" Target="/ppt/slides/slide2.xml" Id="R9c87301ded2f40df" /><Relationship Type="http://schemas.openxmlformats.org/officeDocument/2006/relationships/slide" Target="/ppt/slides/slide3.xml" Id="R1ff6bd8cd74942a4" /><Relationship Type="http://schemas.openxmlformats.org/officeDocument/2006/relationships/slide" Target="/ppt/slides/slide4.xml" Id="Rf6ef9bbf5e5d4df2" /><Relationship Type="http://schemas.openxmlformats.org/officeDocument/2006/relationships/slide" Target="/ppt/slides/slide5.xml" Id="R4a104fb6e1a64fae" /><Relationship Type="http://schemas.openxmlformats.org/officeDocument/2006/relationships/slide" Target="/ppt/slides/slide6.xml" Id="Rb6763c910bbe4310" /><Relationship Type="http://schemas.openxmlformats.org/officeDocument/2006/relationships/slide" Target="/ppt/slides/slide7.xml" Id="Rf0b2c19125de4d09" /><Relationship Type="http://schemas.openxmlformats.org/officeDocument/2006/relationships/slide" Target="/ppt/slides/slide8.xml" Id="R1fda320242464ab6" /><Relationship Type="http://schemas.openxmlformats.org/officeDocument/2006/relationships/slide" Target="/ppt/slides/slide9.xml" Id="R9ad96788ad7b49a4" /><Relationship Type="http://schemas.openxmlformats.org/officeDocument/2006/relationships/slide" Target="/ppt/slides/slide10.xml" Id="Rd508c3b1d6514810" /><Relationship Type="http://schemas.openxmlformats.org/officeDocument/2006/relationships/slide" Target="/ppt/slides/slide11.xml" Id="R4ec71a72e8d44118" /><Relationship Type="http://schemas.openxmlformats.org/officeDocument/2006/relationships/slide" Target="/ppt/slides/slide12.xml" Id="R25a12d3b65ff4d4a" /><Relationship Type="http://schemas.openxmlformats.org/officeDocument/2006/relationships/slide" Target="/ppt/slides/slide13.xml" Id="Rdb2149ba654842d8" /><Relationship Type="http://schemas.openxmlformats.org/officeDocument/2006/relationships/slide" Target="/ppt/slides/slide14.xml" Id="Rfdfd82f8ac1d47a8" /><Relationship Type="http://schemas.openxmlformats.org/officeDocument/2006/relationships/slide" Target="/ppt/slides/slide15.xml" Id="Reb611fd7bcb04c0e" /><Relationship Type="http://schemas.openxmlformats.org/officeDocument/2006/relationships/slide" Target="/ppt/slides/slide16.xml" Id="R4bcf7df5b80549e0" /><Relationship Type="http://schemas.openxmlformats.org/officeDocument/2006/relationships/slide" Target="/ppt/slides/slide17.xml" Id="Rc5bdcda57d394a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b0a027c3c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6ca029fde54070" /><Relationship Type="http://schemas.openxmlformats.org/officeDocument/2006/relationships/notesMaster" Target="/ppt/notesMasters/notesMaster1.xml" Id="Rd88b66ac0a684d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ac5c623294497f" /><Relationship Type="http://schemas.openxmlformats.org/officeDocument/2006/relationships/notesMaster" Target="/ppt/notesMasters/notesMaster1.xml" Id="Rce540fe5aef946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31b6046cce4958" /><Relationship Type="http://schemas.openxmlformats.org/officeDocument/2006/relationships/notesMaster" Target="/ppt/notesMasters/notesMaster1.xml" Id="Rdff77ff224ae47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8fea6dd574350" /><Relationship Type="http://schemas.openxmlformats.org/officeDocument/2006/relationships/notesMaster" Target="/ppt/notesMasters/notesMaster1.xml" Id="Ra82a40f5000540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a16c48dd394318" /><Relationship Type="http://schemas.openxmlformats.org/officeDocument/2006/relationships/notesMaster" Target="/ppt/notesMasters/notesMaster1.xml" Id="R3e010e36116144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b5123680344b15" /><Relationship Type="http://schemas.openxmlformats.org/officeDocument/2006/relationships/notesMaster" Target="/ppt/notesMasters/notesMaster1.xml" Id="R372175a98ddc44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04054555d8409c" /><Relationship Type="http://schemas.openxmlformats.org/officeDocument/2006/relationships/notesMaster" Target="/ppt/notesMasters/notesMaster1.xml" Id="R8a594fbdc36045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eff2edfa874d2f" /><Relationship Type="http://schemas.openxmlformats.org/officeDocument/2006/relationships/notesMaster" Target="/ppt/notesMasters/notesMaster1.xml" Id="R2f37a42795b0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b66061153f4aa4" /><Relationship Type="http://schemas.openxmlformats.org/officeDocument/2006/relationships/notesMaster" Target="/ppt/notesMasters/notesMaster1.xml" Id="Rc12a77b584b74e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bce3b6887344a2" /><Relationship Type="http://schemas.openxmlformats.org/officeDocument/2006/relationships/notesMaster" Target="/ppt/notesMasters/notesMaster1.xml" Id="R3fb6e8ffcdc145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b6e2edf13b4bcd" /><Relationship Type="http://schemas.openxmlformats.org/officeDocument/2006/relationships/notesMaster" Target="/ppt/notesMasters/notesMaster1.xml" Id="Rc880519b59054c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053b9c1e894329" /><Relationship Type="http://schemas.openxmlformats.org/officeDocument/2006/relationships/notesMaster" Target="/ppt/notesMasters/notesMaster1.xml" Id="Ra6a54980bafe48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2b7ade29c84d97" /><Relationship Type="http://schemas.openxmlformats.org/officeDocument/2006/relationships/notesMaster" Target="/ppt/notesMasters/notesMaster1.xml" Id="Rd3654265395448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afd37a244743ea" /><Relationship Type="http://schemas.openxmlformats.org/officeDocument/2006/relationships/notesMaster" Target="/ppt/notesMasters/notesMaster1.xml" Id="Rb029b6c144ba4f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d176af6d30447f" /><Relationship Type="http://schemas.openxmlformats.org/officeDocument/2006/relationships/notesMaster" Target="/ppt/notesMasters/notesMaster1.xml" Id="Re94d306ee6d140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e8bf95acea4763" /><Relationship Type="http://schemas.openxmlformats.org/officeDocument/2006/relationships/notesMaster" Target="/ppt/notesMasters/notesMaster1.xml" Id="R61c0d4ccfdb647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d9ba17f0734b4f" /><Relationship Type="http://schemas.openxmlformats.org/officeDocument/2006/relationships/notesMaster" Target="/ppt/notesMasters/notesMaster1.xml" Id="Rb4c524b2666940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교사 멘트: 오늘은 몸의 움직임을 알아보는 AI를 직접 훈련하고, 성능을 개선하는 모션AI 전문가가 됩니다.</a:t>
            </a:r>
          </a:p>
          <a:p xmlns:a="http://schemas.openxmlformats.org/drawingml/2006/main">
            <a:r>
              <a:t>진행: 학생들이 제목을 읽고 오늘 사용할 기기의 카메라 위치를 확인하게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교사 멘트: 세 문장 중 무엇이 맞을까요? 정답은 하나가 아니라 과정으로 연결됩니다.</a:t>
            </a:r>
          </a:p>
          <a:p xmlns:a="http://schemas.openxmlformats.org/drawingml/2006/main">
            <a:r>
              <a:t>진행: 손들기 또는 모둠별 20초 대화 후 두 팀의 생각을 듣는다.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>교사 멘트: 1차시에는 AI의 작동 원리를 익히고, 2차시에는 모둠별 고객 의뢰를 해결합니다.</a:t>
            </a:r>
          </a:p>
          <a:p xmlns:a="http://schemas.openxmlformats.org/drawingml/2006/main">
            <a:r>
              <a:t>진행: 두 차시의 목표 차이를 안내하고 2차시에는 결과보다 사용자 문제 해결이 중요하다고 예고한다.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3분</a:t>
            </a:r>
          </a:p>
          <a:p xmlns:a="http://schemas.openxmlformats.org/drawingml/2006/main">
            <a:r>
              <a:t>교사 멘트: 모션AI 전문가는 코딩만 하는 사람이 아닙니다. 동작을 정하고, 데이터를 살피고, 결과를 사용자에게 연결합니다.</a:t>
            </a:r>
          </a:p>
          <a:p xmlns:a="http://schemas.openxmlformats.org/drawingml/2006/main">
            <a:r>
              <a:t>진행: 스포츠 분석, 재활 보조, 게임 입력 중 학생이 관심 있는 사례를 묻는다.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교사 멘트: 모션AI 제품은 프로그래머 한 명이 완성하지 않습니다. 데이터, 모델, 사용자 경험, 현장 기준과 개인정보를 맡는 사람이 협업합니다.</a:t>
            </a:r>
          </a:p>
          <a:p xmlns:a="http://schemas.openxmlformats.org/drawingml/2006/main">
            <a:r>
              <a:t>진행: 일곱 직무를 읽고 학생에게 가장 관심 있는 역할 하나를 고르게 한다. 2차시 모둠 활동에서 어떤 역할을 맡을지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교사 멘트: 웹앱은 카메라에서 관절점을 찾고, 그 숫자 패턴을 우리가 가르친 자세와 비교합니다.</a:t>
            </a:r>
          </a:p>
          <a:p xmlns:a="http://schemas.openxmlformats.org/drawingml/2006/main">
            <a:r>
              <a:t>진행: 학생에게 어깨와 손목 위치를 바꾸면 어떤 숫자가 달라질지 몸으로 표현하게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교사 멘트: QR로 접속한 뒤 주소가 kionlabs.github.io로 시작하는지 확인합니다. 카메라 영상은 저장하거나 서버로 전송하지 않습니다.</a:t>
            </a:r>
          </a:p>
          <a:p xmlns:a="http://schemas.openxmlformats.org/drawingml/2006/main">
            <a:r>
              <a:t>진행: 학생들이 QR을 찍고 모두 첫 화면에 도달할 때까지 기다린다. 접속이 느린 모둠부터 지원한다.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>교사 멘트: 네 항목이 모두 확인되어야 다음 단계로 이동합니다. 관절점이 끊기면 거리와 조명을 먼저 조절합니다.</a:t>
            </a:r>
          </a:p>
          <a:p xmlns:a="http://schemas.openxmlformats.org/drawingml/2006/main">
            <a:r>
              <a:t>진행: 카메라를 켜고 전신 인식 여부를 확인한다. 오류 기기는 새로고침 후 다시 허용한다.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교사 멘트: 역할을 나누면 한 사람이 카메라 앞에서 계속 움직이는 문제를 줄일 수 있습니다.</a:t>
            </a:r>
          </a:p>
          <a:p xmlns:a="http://schemas.openxmlformats.org/drawingml/2006/main">
            <a:r>
              <a:t>진행: 모둠 설정에 이름과 참여 인원을 입력하고 역할을 30초 안에 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8분</a:t>
            </a:r>
          </a:p>
          <a:p xmlns:a="http://schemas.openxmlformats.org/drawingml/2006/main">
            <a:r>
              <a:t>교사 멘트: AI는 우리가 보여준 예시만 압니다. 같은 사람, 같은 위치, 같은 각도만 모으면 새로운 상황에서 자주 틀립니다.</a:t>
            </a:r>
          </a:p>
          <a:p xmlns:a="http://schemas.openxmlformats.org/drawingml/2006/main">
            <a:r>
              <a:t>진행: 모둠원 모두가 번갈아 참여한다. 잘못된 자세가 섞이면 데이터 초기화 후 해당 클래스만 다시 모은다.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교사 멘트: 새 자세 주변에 어떤 색의 데이터가 많은지 봅니다. 비슷한 예시가 섞여 있으면 AI도 헷갈립니다.</a:t>
            </a:r>
          </a:p>
          <a:p xmlns:a="http://schemas.openxmlformats.org/drawingml/2006/main">
            <a:r>
              <a:t>진행: 검은 물음표가 어느 클래스에 가까운지 학생들이 손가락으로 가리키게 한다. AI 학습 버튼을 누른다.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교사 멘트: 정확도는 느낌이 아니라 같은 횟수의 시험으로 비교합니다. 시험 순서는 섞어야 결과가 더 믿을 만합니다.</a:t>
            </a:r>
          </a:p>
          <a:p xmlns:a="http://schemas.openxmlformats.org/drawingml/2006/main">
            <a:r>
              <a:t>진행: 기록자가 개선 전 정답과 오답을 입력한다. 테스트 역할을 중간에 교대한다.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교사 멘트: 틀린 이유를 추측하고 한 조건만 바꿉니다. 여러 조건을 한꺼번에 바꾸면 무엇이 효과가 있었는지 알 수 없습니다.</a:t>
            </a:r>
          </a:p>
          <a:p xmlns:a="http://schemas.openxmlformats.org/drawingml/2006/main">
            <a:r>
              <a:t>진행: 모둠은 오류 유형 하나를 선택하고 해당 클래스 데이터를 보강한 뒤 다시 학습한다.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교사 멘트: AI가 특정 학생에게만 잘 맞는다면 그 학생의 문제가 아니라 데이터 구성이 좁았을 가능성이 큽니다.</a:t>
            </a:r>
          </a:p>
          <a:p xmlns:a="http://schemas.openxmlformats.org/drawingml/2006/main">
            <a:r>
              <a:t>진행: 모둠원 모두의 자세를 넣었는지 확인한다. 개인정보 보호 문구를 다시 짚는다.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>교사 멘트: 모둠은 관심 있는 회사보다 해결하고 싶은 사용자 문제를 기준으로 카드를 고릅니다.</a:t>
            </a:r>
          </a:p>
          <a:p xmlns:a="http://schemas.openxmlformats.org/drawingml/2006/main">
            <a:r>
              <a:t>진행: 여섯 카드를 1분 동안 읽고 모둠별로 한 장을 선택한다. 같은 카드가 여러 모둠에 겹쳐도 허용한다.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17분</a:t>
            </a:r>
          </a:p>
          <a:p xmlns:a="http://schemas.openxmlformats.org/drawingml/2006/main">
            <a:r>
              <a:t>교사 멘트: 세 동작의 정확도만 높이는 것이 목표가 아닙니다. 사용자가 편하게 구분할 수 있는 동작인지 시험하고 개선 내용을 제안서에 적습니다.</a:t>
            </a:r>
          </a:p>
          <a:p xmlns:a="http://schemas.openxmlformats.org/drawingml/2006/main">
            <a:r>
              <a:t>진행: 동작 설계와 데이터 수집 8분, 학습과 사용자 시험 6분, 제안 카드 작성과 짧은 발표 3분으로 운영한다.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교사 멘트: 오늘 한 일은 모션AI 전문가의 축소판입니다. 마지막으로 성능이 달라진 이유를 데이터와 연결해 말해봅시다.</a:t>
            </a:r>
          </a:p>
          <a:p xmlns:a="http://schemas.openxmlformats.org/drawingml/2006/main">
            <a:r>
              <a:t>진행: 모둠별 한 문장을 듣고, 관심 분야 하나를 선택해 손들게 한 뒤 수업을 마친다.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7ff82034d46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b27bf632147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218854ea94a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72aab498847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49465d4b140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ea200ed8e4a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8F0A3E-5AF2-4B62-A6DF-3E583032C6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842F56-4402-4693-AC94-0749ADB59B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60FDCC-D55D-4830-81B0-D5D6A38C6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16DA3A-5BFE-4A7B-8964-A1C9F73D1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20E903-2A0F-462A-ABF6-AB98562380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5CEDC7-57DD-4F71-BEEB-DDF5BCA8F8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FE1606-58E3-41C2-9CBE-5C3C401B43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294D28-7F0F-4AF3-829A-4A2B4B14DA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C42BF9-C4B7-4E29-BD47-0F73383A42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4E3CB3-E5E8-40F6-9924-D2241C696E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33bb644ca24a6d" /><Relationship Type="http://schemas.openxmlformats.org/officeDocument/2006/relationships/slideLayout" Target="/ppt/slideLayouts/slideLayout1.xml" Id="Ra0b711fec87146e1" /><Relationship Type="http://schemas.openxmlformats.org/officeDocument/2006/relationships/slideLayout" Target="/ppt/slideLayouts/slideLayout2.xml" Id="R00d1fd05ebc54513" /><Relationship Type="http://schemas.openxmlformats.org/officeDocument/2006/relationships/slideLayout" Target="/ppt/slideLayouts/slideLayout3.xml" Id="R627df94f92494ab3" /><Relationship Type="http://schemas.openxmlformats.org/officeDocument/2006/relationships/slideLayout" Target="/ppt/slideLayouts/slideLayout4.xml" Id="R3bf6a3be67e24b98" /><Relationship Type="http://schemas.openxmlformats.org/officeDocument/2006/relationships/slideLayout" Target="/ppt/slideLayouts/slideLayout5.xml" Id="Rfab55c34855d4c16" /><Relationship Type="http://schemas.openxmlformats.org/officeDocument/2006/relationships/slideLayout" Target="/ppt/slideLayouts/slideLayout6.xml" Id="R82dc6bdffe7640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b711fec87146e1"/>
    <p:sldLayoutId xmlns:r="http://schemas.openxmlformats.org/officeDocument/2006/relationships" id="2147483650" r:id="R00d1fd05ebc54513"/>
    <p:sldLayoutId xmlns:r="http://schemas.openxmlformats.org/officeDocument/2006/relationships" id="2147483651" r:id="R627df94f92494ab3"/>
    <p:sldLayoutId xmlns:r="http://schemas.openxmlformats.org/officeDocument/2006/relationships" id="2147483652" r:id="R3bf6a3be67e24b98"/>
    <p:sldLayoutId xmlns:r="http://schemas.openxmlformats.org/officeDocument/2006/relationships" id="2147483653" r:id="Rfab55c34855d4c16"/>
    <p:sldLayoutId xmlns:r="http://schemas.openxmlformats.org/officeDocument/2006/relationships" id="2147483654" r:id="R82dc6bdffe7640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7ed0dc64f490e" /><Relationship Type="http://schemas.openxmlformats.org/officeDocument/2006/relationships/notesSlide" Target="/ppt/notesSlides/notesSlide1.xml" Id="R68715877528245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1a0291e7c43ef" /><Relationship Type="http://schemas.openxmlformats.org/officeDocument/2006/relationships/notesSlide" Target="/ppt/notesSlides/notesSlide2.xml" Id="R4f7f0b35785f4b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ef24eb2ce4769" /><Relationship Type="http://schemas.openxmlformats.org/officeDocument/2006/relationships/notesSlide" Target="/ppt/notesSlides/notesSlide3.xml" Id="R13be2b359e294d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8873414474d31" /><Relationship Type="http://schemas.openxmlformats.org/officeDocument/2006/relationships/notesSlide" Target="/ppt/notesSlides/notesSlide4.xml" Id="R3ddaef8c2a3a44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78259f9964cff" /><Relationship Type="http://schemas.openxmlformats.org/officeDocument/2006/relationships/notesSlide" Target="/ppt/notesSlides/notesSlide5.xml" Id="Rc6f5475eb58146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5e08a795d4a80" /><Relationship Type="http://schemas.openxmlformats.org/officeDocument/2006/relationships/notesSlide" Target="/ppt/notesSlides/notesSlide6.xml" Id="R5ad3c5d6cdba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cc749096948fd" /><Relationship Type="http://schemas.openxmlformats.org/officeDocument/2006/relationships/image" Target="/ppt/media/image.png" Id="Re534056bf598430c" /><Relationship Type="http://schemas.openxmlformats.org/officeDocument/2006/relationships/image" Target="/ppt/media/image2.png" Id="Rbf07e7089b4e422d" /><Relationship Type="http://schemas.openxmlformats.org/officeDocument/2006/relationships/notesSlide" Target="/ppt/notesSlides/notesSlide7.xml" Id="Rea21a6d21b0741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a961412ce4e29" /><Relationship Type="http://schemas.openxmlformats.org/officeDocument/2006/relationships/notesSlide" Target="/ppt/notesSlides/notesSlide8.xml" Id="R90691cfd22924e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43e66d2cd4155" /><Relationship Type="http://schemas.openxmlformats.org/officeDocument/2006/relationships/notesSlide" Target="/ppt/notesSlides/notesSlide9.xml" Id="Rf0f23296530c43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5f9b52071d4326" /><Relationship Type="http://schemas.openxmlformats.org/officeDocument/2006/relationships/notesSlide" Target="/ppt/notesSlides/notesSlide10.xml" Id="R2c367c587c1c4b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7d9c0ea134966" /><Relationship Type="http://schemas.openxmlformats.org/officeDocument/2006/relationships/notesSlide" Target="/ppt/notesSlides/notesSlide11.xml" Id="Rb15cc312105a44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a080999da422b" /><Relationship Type="http://schemas.openxmlformats.org/officeDocument/2006/relationships/notesSlide" Target="/ppt/notesSlides/notesSlide12.xml" Id="R44c9f1e4b00a46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0fa2c37784a1e" /><Relationship Type="http://schemas.openxmlformats.org/officeDocument/2006/relationships/notesSlide" Target="/ppt/notesSlides/notesSlide13.xml" Id="Ra65fa47e1f984f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2d2e53907429b" /><Relationship Type="http://schemas.openxmlformats.org/officeDocument/2006/relationships/notesSlide" Target="/ppt/notesSlides/notesSlide14.xml" Id="R60aa00b7abf84e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0a95536e194671" /><Relationship Type="http://schemas.openxmlformats.org/officeDocument/2006/relationships/image" Target="/ppt/media/image3.png" Id="Rf1f080c4329e44e6" /><Relationship Type="http://schemas.openxmlformats.org/officeDocument/2006/relationships/notesSlide" Target="/ppt/notesSlides/notesSlide15.xml" Id="Rb48ba14848b542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2ed925b0b418b" /><Relationship Type="http://schemas.openxmlformats.org/officeDocument/2006/relationships/notesSlide" Target="/ppt/notesSlides/notesSlide16.xml" Id="Rba6fea3bb60845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6c67129604a2e" /><Relationship Type="http://schemas.openxmlformats.org/officeDocument/2006/relationships/notesSlide" Target="/ppt/notesSlides/notesSlide17.xml" Id="R907c950f7ad64e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40210-1431-403A-AF14-2D92761B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65211-CA89-4290-93EC-7D01295C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MOTION AI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A714C-1ED2-486F-973B-86918525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모션AI 전문가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3077B-367B-4228-8089-4D622D38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몸짓으로 AI를 가르치는 90분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17235-678D-4895-8383-A108A3F2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0015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70B26-538F-43E4-860E-7A6D6F69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7049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A08BC-4E08-4DED-8329-21636653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28875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4B0E5-BD21-4B01-987E-907ACD63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051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9CB8B-3774-43DA-B8EE-0AF84ADA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중학교 2·3학년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57A96-051A-4D5E-8509-54036B5F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2차시 · 45분 ×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B2685-FD21-4540-AED4-95087144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7626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카메라 영상은 저장하지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415787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F2340-B368-4558-9F82-DF8DAEE2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31972-BD14-44C1-BB9D-C6B69A17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오늘의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B67BD-8444-4720-B6B7-4EAE5022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CCBD0-184D-40D4-86FD-3E959157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FC0BC-04BF-41A9-8C5A-C5AFDA28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DA673-580D-4B6C-8043-BFE541B5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카메라는 내 동작을</a:t>
            </a:r>
          </a:p>
          <a:p xmlns:a="http://schemas.openxmlformats.org/drawingml/2006/main">
            <a:pPr algn="l">
              <a:defRPr sz="36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어떻게 이해할까?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B785C-10F1-40C4-BB1D-ABC0435C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571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3982B-6140-4FA6-83A1-3E6291F2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화면의 색을 본다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57E6F-AA09-4C52-9EA0-005725A8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몸의 관절 위치를 찾는다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D4CF3-7430-453D-97E2-F14ABA63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학습한 자세와 비교한다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C86AD-CB4E-4E4E-8DF9-97B7B7E6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수업이 끝나면 근거를 들어 설명할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40670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E96FC-B735-4AB6-A60F-8FC28FBF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BA823-4605-4025-8974-133A4D8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90분 수업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5F7B9-33F1-4DC3-98E5-40616872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1차시는 원리와 기본 실습, 2차시는 사용자 문제 해결 프로젝트입니다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EC1AE-BE42-4226-8C49-C253E595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9C983-DC9D-4AFD-B94B-F07FC929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155EB-83EF-4807-BD38-F98B96AB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61C58-D785-49C3-A897-192CC3E7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1차시 · 45분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D5BF9-A241-40E7-85B5-0407D86C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804D2-74B4-4F73-BFB9-9A08C612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직업 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AE49E-2B37-408D-963C-5DD02A62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원리 탐구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99A63-7A16-4974-9242-7D430AF7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기기 점검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FAEF3-0EED-4112-A1F3-5EA3D9BD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데이터 수집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EC391-0096-4076-A48D-1E5C0BD0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623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AI 학습·시험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CE30A-4371-42CB-AF77-4234DA6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623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결과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A6320-CBEA-4247-96DD-884A5B39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rPr>
              <a:t>2차시 · 45분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9CD30-F4F0-4B88-8154-CA29D5C0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CA617-FB7E-4B98-94C2-24AECAF3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진로 카드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25B70-C43B-4DD2-A9B6-56ACFAA1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사용자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C6E5F-5EF2-40FD-A7DE-AA248E14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38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동작 설계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5D69E-778F-42CF-9B92-9EA798ED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623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프로토타입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DBFEF-810B-4BBD-95A5-8E867D77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사용자 시험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C50FE-F71E-4C46-8594-611520C4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623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제안 발표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F3DBC-89D3-433E-BB46-D0E55FA1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핵심 활동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457E4-5EF3-4C8D-AE26-55BA5EED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기본 분류기를 만든 뒤, 모둠마다 다른 사용자의 문제에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673679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6ED7F-0BCD-4696-BF04-4C1F93E0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F3791-9B3E-4DF6-97B8-BDFD065A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모션AI 전문가는 무슨 일을 할까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1D251-DBCA-4611-8CA7-573C3B43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A0A76-6645-4201-9057-C3C01883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2004D-AB10-414A-9CB8-7B7C043F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1F38A-F865-452B-8DE0-5B5EE7C8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83055-E2BD-4F53-921A-8C7101B3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1462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사람의 움직임을</a:t>
            </a:r>
          </a:p>
          <a:p xmlns:a="http://schemas.openxmlformats.org/drawingml/2006/main">
            <a:pPr algn="ctr">
              <a:defRPr sz="16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데이터로 바꾸고</a:t>
            </a:r>
          </a:p>
          <a:p xmlns:a="http://schemas.openxmlformats.org/drawingml/2006/main">
            <a:pPr algn="ctr">
              <a:defRPr sz="16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문제를 해결하는 사람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38D35-8636-4A1F-8934-93FD33E9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rPr>
              <a:t>동작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8C6CA-44E8-4EB8-8937-3E12789A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어떤 자세를 구분할지 정한다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879CC-BE19-459C-B3AD-436B82B1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rPr>
              <a:t>데이터 품질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B5AA9-C9DF-4E03-BD90-9E44E7E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다양한 사람과 환경을 반영한다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96B20-7C2B-4B41-91DB-B023C1DF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rPr>
              <a:t>모델 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1E2E1-627D-477F-843A-28D0B246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틀린 장면을 찾고 다시 시험한다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8D7BF-AAE6-4BDC-ADBA-6005CADF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58D68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8D68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58D68D"/>
                </a:solidFill>
                <a:latin typeface="Noto Sans KR"/>
                <a:ea typeface="Noto Sans KR"/>
                <a:cs typeface="Noto Sans KR"/>
              </a:rPr>
              <a:t>제품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00DB3-938D-4E81-9ADD-6EBCA702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게임·재활·스포츠에 연결한다</a:t>
            </a:r>
          </a:p>
        </p:txBody>
      </p:sp>
    </p:spTree>
    <p:extLst>
      <p:ext uri="{BB962C8B-B14F-4D97-AF65-F5344CB8AC3E}">
        <p14:creationId xmlns:p14="http://schemas.microsoft.com/office/powerpoint/2010/main" val="1939848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A39E41-C417-4515-9A97-AEB08E5F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BA0B2-DF91-4AB9-B50B-1F1BD60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모션AI는 여러 직무가 함께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E54AA-10CB-4E63-9806-C0E279E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개발부터 사용자 안전까지 역할이 이어집니다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66445-1998-4264-BC90-BC96FCC4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7C0E1-877D-4377-81D2-06B388E2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C3AEC-753C-4659-BC98-E799E789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26D0B-E31E-4093-BEE6-D4310A5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4FE40-9DE3-423B-8916-FA05102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데이터 기획자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92DA7-989B-45F0-A026-B286E070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어떤 동작과 사람을 데이터에 포함할지 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5C7B2-A1BB-4CEB-B60C-36157EC4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7AC17-9C97-403E-9EC9-A329624B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컴퓨터 비전 개발자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BAC23-ADDB-4A7B-AD46-F534C310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영상에서 사람과 관절을 찾는 AI 개발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1167B-BFF8-4AD7-A88C-A2FACC7E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65A28-CF24-4210-86DD-C0327FC0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머신러닝 엔지니어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22C89-E6CB-4F44-8AAE-5E809805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957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동작을 구분하는 모델을 학습하고 개선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57FD9-8953-43D3-8D6D-13DDD67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6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B2219-75E2-4A4E-8362-F8EF8433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UX 디자이너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44AFA-71C1-4C0D-B31E-8ECC66EA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292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사람이 편하고 안전하게 사용할 동작 설계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4BE6D-D62E-4F86-8AE8-ADD54243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90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3DEFD-95D0-4DAC-8740-DCD7F483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6DD32-7B51-4AA4-A027-A426EBF0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테스트 엔지니어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0892A-0812-4119-B3CE-C62048F4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다양한 사람과 환경에서 오류 조사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35F8FE-3B0A-4A2D-98DB-378DA9C8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6EE02-2FA2-4183-98C2-02F9B8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도메인 전문가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1F0EF-1479-4B92-9765-36B522CF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719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의사·물리치료사·스포츠 코치와 기준 설정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419FE0-8762-4F5F-95B4-EFE0C5C0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50B30-E4CE-4708-9DFF-E88BE8E8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AI 윤리·개인정보 담당자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46CA4-B63E-452C-A597-46FD28E5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영상 수집과 데이터 편향 문제 점검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A3E02-A6D5-4CE3-ABE3-16AF4772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오늘 모둠도 기획·개발·시험·윤리 역할을 함께 경험합니다.</a:t>
            </a:r>
          </a:p>
        </p:txBody>
      </p:sp>
    </p:spTree>
    <p:extLst>
      <p:ext uri="{BB962C8B-B14F-4D97-AF65-F5344CB8AC3E}">
        <p14:creationId xmlns:p14="http://schemas.microsoft.com/office/powerpoint/2010/main" val="239771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3B7F8-4348-4618-A40C-156ECD10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52817-98B4-4F74-8C7D-322C33E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모션AI가 동작을 판단하는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D4D4B-2771-4E19-AFED-5284BFC8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935BA-2ECB-42F7-9D57-DBD396D0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69840-761E-42B7-9EB1-CFD2F9B4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564E6-8CC7-427E-B085-A89191AD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575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425EC-6572-4C69-B042-A37A43CA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ABF8B-F843-49EB-84FA-AF1659CF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>
            <a:defPPr algn="ctr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D40C9-FF7B-493E-9093-F92C8529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카메라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980F9-C4CD-4E86-834B-4930729E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148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영상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9AE8A-7874-4AD7-B93F-30C4DB75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575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21532-8550-4458-81F2-13A69379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57819-5B19-4536-AFAD-DAAE9818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>
            <a:defPPr algn="ctr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F5CEF-FCBD-4226-8F80-29EFD9A6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관절점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56E5B-65E5-43B5-A665-7AB97AA5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148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어깨·팔·손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A1A45-ACA8-404F-9B75-456FFA0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575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C67C7-2CE3-459C-8B80-ABA22355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AAEBA-448D-4441-91B7-BFB923E9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>
            <a:defPPr algn="ctr">
              <a:defRPr sz="1800" b="1">
                <a:solidFill>
                  <a:srgbClr val="06112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6112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61121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30248-2ED0-4278-898E-9EF87E95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숫자 특징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31996-E2A3-4594-A78B-A14C910B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각도와 거리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3DC40-BC95-4B0A-8CF5-11A05E5A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575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D2BCD-04CB-45C9-B59D-9BC4FA7E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81A57-8698-445C-B1B1-6FC1A3BD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>
            <a:defPPr algn="ctr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AD0473-91A6-4D37-9C59-56D6BE59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자세 분류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04CFD-3164-442D-BECB-5EBE17C8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왼쪽·오른쪽·정지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48CE7-4E8D-448D-8A44-7A60A435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92B77-73F7-47B6-827C-71531989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>
            <a:defPPr algn="ctr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D9D39-486C-4569-B49A-E9295C85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14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화면 반응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33523D-1522-497A-B8BE-EC9056D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미션 조종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9AFA8C-2101-4B3B-A5AD-F7526DA7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영상 자체가 아니라 관절의 위치를 학습 데이터로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302675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F6C6E-3905-4FBA-BCE4-BF483BF4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B7DEE-039D-4A97-B5E3-186D5EE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학생용 웹앱 접속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66CF1-DB35-48A8-8574-1905EE00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설치 없이 브라우저에서 실행합니다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68423-A999-4891-83C0-C910D5EF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24CA7-7C51-428B-9ADA-A35D17C6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56D62-C5C9-48F0-9DC1-4B5BB2F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488D1-9EF9-4D91-A028-1C750ED2E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4056bf598430c"/>
          <a:srcRect xmlns:a="http://schemas.openxmlformats.org/drawingml/2006/main" l="0" t="6779" r="0" b="6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057400"/>
            <a:ext cx="7334250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54520-7247-469F-A1F9-6C651B363E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7e7089b4e422d"/>
          <a:stretch xmlns:a="http://schemas.openxmlformats.org/drawingml/2006/main"/>
        </p:blipFill>
        <p:spPr>
          <a:xfrm xmlns:a="http://schemas.openxmlformats.org/drawingml/2006/main">
            <a:off x="8591550" y="209550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40977-880A-49F4-9F7D-BBC2FDFD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86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kionlabs.github.io/motion_ai/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4CFE3-CF4E-4E22-94B2-057E65CA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181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Chrome 또는 Edge 권장</a:t>
            </a:r>
          </a:p>
          <a:p xmlns:a="http://schemas.openxmlformats.org/drawingml/2006/main">
            <a:pPr algn="ctr">
              <a:def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카메라 허용 선택</a:t>
            </a:r>
          </a:p>
          <a:p xmlns:a="http://schemas.openxmlformats.org/drawingml/2006/main">
            <a:pPr algn="ctr">
              <a:def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영상은 서버로 보내지 않음</a:t>
            </a:r>
          </a:p>
        </p:txBody>
      </p:sp>
    </p:spTree>
    <p:extLst>
      <p:ext uri="{BB962C8B-B14F-4D97-AF65-F5344CB8AC3E}">
        <p14:creationId xmlns:p14="http://schemas.microsoft.com/office/powerpoint/2010/main" val="169431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80234-CE2C-4EA6-9768-C45BE803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144B1-8466-49D1-8B71-616D2AAD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1단계 · 기기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347B6-0EC7-45B3-BC2F-CF082EF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5199A-5BA0-4380-86D4-CFFE0EB2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E1BF5-AD81-48E2-8D9E-26FED248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9D4E7-50FA-4408-BEC5-F3D31F5D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5B926-ADDE-4279-8B72-C5162778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브라우저 기능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B83FC-E8EF-4CEA-A84D-491076AD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4BDA5-5805-4E23-9C10-44E992FF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사용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C317A-DF81-4EC6-B3D8-08AF20B8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E83C2-94BA-4D89-970C-38ADA7DB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AI 모델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1AEED-8508-45BE-AF44-5EA530A7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455E6-2E4E-4902-8BD4-3CF176A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준비 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16E9A-B38B-444F-993E-329F51C6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9456C-A77E-47DC-940A-A14F1DBA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카메라 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52E5C-750F-4E24-88F1-2308181E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814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CBF08-46AE-4194-A281-B33ECB6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75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C857"/>
                </a:solidFill>
                <a:latin typeface="Noto Sans KR"/>
                <a:ea typeface="Noto Sans KR"/>
                <a:cs typeface="Noto Sans KR"/>
              </a:rPr>
              <a:t>허용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8D0CB-C031-4480-88C3-96DB4105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B733F-DEE0-4354-8792-FA0E91A2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몸 관절 인식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912CD-0CF0-45B3-A235-154812FE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5C748-C92D-4654-AAFA-4A7EE89A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67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75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C857"/>
                </a:solidFill>
                <a:latin typeface="Noto Sans KR"/>
                <a:ea typeface="Noto Sans KR"/>
                <a:cs typeface="Noto Sans KR"/>
              </a:rPr>
              <a:t>전신이 보임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E372C0-5DC9-4EAC-871D-7FF7BD2C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578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화면에 전신이 들어오도록 기기에서 두세 걸음 떨어집니다.</a:t>
            </a:r>
          </a:p>
        </p:txBody>
      </p:sp>
    </p:spTree>
    <p:extLst>
      <p:ext uri="{BB962C8B-B14F-4D97-AF65-F5344CB8AC3E}">
        <p14:creationId xmlns:p14="http://schemas.microsoft.com/office/powerpoint/2010/main" val="2658731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6FD05-EBA0-4590-B992-EC68B5AF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90F0B-BF27-4B57-B669-A28274C0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모둠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4DB95-B63C-4EE4-BBB4-93A2F935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4명 기준, 실습 중 한 번 역할을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2A6E4-3370-4223-898C-EFE2DAF0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07A75-E59C-4554-8847-0381CA3D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765A3-B35A-4EA9-89E2-0C743E38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6F064-F862-4D43-9F66-9DB11B30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4056D-ECBE-4777-AD1B-5FBAAE5C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4666D-1385-4B24-8106-BBD8945E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포즈 설계자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12A1B-71DA-421F-94AF-BA68C7F5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23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세 자세의 차이가</a:t>
            </a:r>
          </a:p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분명하도록 몸짓을 정함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06755-EA7F-4DA5-A34B-580B54A0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7A739-EDE7-411C-8D70-988B6F5A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526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9BA53-236E-47CF-9F1D-67FBC6D3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479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데이터 수집자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7A9CF-F71D-4B99-BCBF-490C21C4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223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각 자세를 반복하며</a:t>
            </a:r>
          </a:p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다양한 예시를 만듦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018E3-D0DC-41B9-9C1A-A8CAE678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67BF4-F3EA-4D38-BB38-0A2784EF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526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7357E-34E0-4B61-A9A6-0BF887F8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품질 검사자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22ED3-006F-430A-B6C4-492FFB1B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223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화면과 관절점을 보고</a:t>
            </a:r>
          </a:p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잘못된 샘플을 막음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5726A-E8C4-4F23-85A0-715F5754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6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2C05E-69CB-4899-A15B-707B8D81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8D68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8D68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8D68D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611DA-74AE-4CA0-8FB3-2AD65AB8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기록자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B8219-BCF5-4B0C-BE21-2F58D410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223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첫 시험과 재시험의</a:t>
            </a:r>
          </a:p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정확도를 기록함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DDF7C-9DC6-4BF8-981C-67901B8A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769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3명 모둠은 품질 검사자와 기록자를 한 사람이 맡습니다.</a:t>
            </a:r>
          </a:p>
        </p:txBody>
      </p:sp>
    </p:spTree>
    <p:extLst>
      <p:ext uri="{BB962C8B-B14F-4D97-AF65-F5344CB8AC3E}">
        <p14:creationId xmlns:p14="http://schemas.microsoft.com/office/powerpoint/2010/main" val="1406340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0E64B-78CA-480E-BD68-894039A5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6D817-111A-44B3-81A6-6DDB48C2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2단계 · 자세 데이터 수집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24546-B582-4DF5-B7E5-B917B109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왼쪽, 오른쪽, 정지를 각각 40개씩 모읍니다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3536-2E8D-4E5F-B02B-04897A63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1E733-5548-4774-A8BE-6161DCB7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E952D-A5CB-4D81-81D0-5130F690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66D97-D13B-4A1A-A758-C368C3C7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933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E4176-0F09-4033-BE59-4C51DFB6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왼쪽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A173C-9AE3-4741-94FB-A0604407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813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왼팔을 옆으로 뻗기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883B8-6C74-46B5-9F81-BB7BA5D1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40 / 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96584-5FB0-4997-BA6C-99CBDAA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E03F3-53E5-47C7-ABBF-A41D670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03A63-4C23-4E88-8150-E482BB9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47900"/>
            <a:ext cx="933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rPr>
              <a:t>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DCD07-A58D-4AD4-A287-D0D6A0E2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오른쪽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4ABE9-1367-494E-A9D8-7D14B9CC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오른팔을 옆으로 뻗기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90B48-8007-482D-A284-46C565D8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7190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40 / 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5C3A0-53BA-489F-A254-ABD15BA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4E2F3-50BA-4B35-BEAA-0AA20C81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BA145-4C34-489C-8C93-32967B2A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47900"/>
            <a:ext cx="933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rPr>
              <a:t>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8EB16-A017-4B6F-B1F5-760D0F3F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>
            <a:defPPr algn="l">
              <a:defRPr sz="21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정지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E0D77-98D9-4D6E-B05B-C58B1275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두 팔을 자연스럽게 내리기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4FD2C-F586-4002-B84F-5E2BC5D6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190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40 / 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7199C-0264-499F-959A-6B8D880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7675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C0DB2-F2F9-45BE-BFBF-CB11D870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76750"/>
            <a:ext cx="2952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C68C9-C51F-4C98-847A-62E8799A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좋은 데이터: 여러 학생이 참여하고, 몸의 위치와 팔 각도를 조금씩 바꿉니다.</a:t>
            </a:r>
          </a:p>
        </p:txBody>
      </p:sp>
    </p:spTree>
    <p:extLst>
      <p:ext uri="{BB962C8B-B14F-4D97-AF65-F5344CB8AC3E}">
        <p14:creationId xmlns:p14="http://schemas.microsoft.com/office/powerpoint/2010/main" val="9168217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B814E-C1B8-42A3-B22B-FA5E2052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25AE6-4164-44FB-A6F9-96975388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3단계 · 가까운 예시로 자세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DA481-F8EE-48B8-9027-FB808A50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웹앱은 새 자세와 가장 가까운 학습 데이터를 찾습니다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8506F-71B5-44F6-A864-EEE8EF69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25EBF-0758-4E85-AA0A-6682CD2D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4037F-3C49-4D73-A662-E6DF2DFD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5C03B-5009-4932-876E-223E0F64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새 자세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70958-C811-4274-A31D-08FA4812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관절 좌표 사이의</a:t>
            </a:r>
          </a:p>
          <a:p xmlns:a="http://schemas.openxmlformats.org/drawingml/2006/main">
            <a:pPr algn="l">
              <a:defRPr sz="15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거리를 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797F3-95F8-403D-8E6A-2F3C6F0D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가까운 이웃들이</a:t>
            </a:r>
          </a:p>
          <a:p xmlns:a="http://schemas.openxmlformats.org/drawingml/2006/main">
            <a:pPr algn="l">
              <a:defRPr sz="15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가장 많이 선택한</a:t>
            </a:r>
          </a:p>
          <a:p xmlns:a="http://schemas.openxmlformats.org/drawingml/2006/main">
            <a:pPr algn="l">
              <a:defRPr sz="15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클래스로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055DA-56E7-4F46-ABB0-D8BB70E1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19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D66A6-C9D4-45DB-8FAA-1F460225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E2715-4B18-4FC6-92AE-EFD73BD7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D6375-452C-4163-BEDA-6EA2B87A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5696B-6B25-4657-ACDF-C82F4385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CDD80-C775-4247-8247-D19C7ADB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ACC41-06F7-4C07-A997-F0E1E48B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55EFA-EB7B-4C8B-8546-3201D3B8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77AED-6866-48D6-8C97-64E3B151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DE820-B495-44FF-B611-927EA54C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14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644E9-8E9C-438C-A6BA-DB097C00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48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90BFD-08F3-44DE-9E11-2297A1BF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33C40-C806-4FD8-B9D9-2ED02701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830"/>
          </a:solidFill>
          <a:ln xmlns:a="http://schemas.openxmlformats.org/drawingml/2006/main" w="28575">
            <a:solidFill>
              <a:srgbClr val="F7F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9C999-CEC5-473C-830C-A17DB40C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62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>
            <a:def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9C97B-A4A1-4FD8-ACE9-0319707D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rPr>
              <a:t>왼쪽 데이터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79636-8092-405C-834A-C63155C7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rPr>
              <a:t>오른쪽 데이터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6109A-9566-4D33-B851-823FB9FA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562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66D0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66D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6D00"/>
                </a:solidFill>
                <a:latin typeface="Noto Sans KR"/>
                <a:ea typeface="Noto Sans KR"/>
                <a:cs typeface="Noto Sans KR"/>
              </a:rPr>
              <a:t>정지 데이터</a:t>
            </a:r>
          </a:p>
        </p:txBody>
      </p:sp>
    </p:spTree>
    <p:extLst>
      <p:ext uri="{BB962C8B-B14F-4D97-AF65-F5344CB8AC3E}">
        <p14:creationId xmlns:p14="http://schemas.microsoft.com/office/powerpoint/2010/main" val="450971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1F3A7-1B5C-40CD-A655-7D93785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17A6C-9023-4617-8E69-21018618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4단계 · 첫 번째 성능 시험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009F4-9EF7-49C0-A711-B2DB0A95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정답 자세를 10번 보여주고 예측 결과를 기록합니다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3A71D-3AE6-4FCA-B0A5-155D8C02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2A156-A423-40F3-8586-565C8B60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243D2-0F5D-44B3-85E8-9BEFE94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EB863-1E1C-4CF8-BE3D-3661AFAD55B4}"/>
              </a:ext>
            </a:extLst>
          </p:cNvPr>
          <p:cNvGraphicFramePr/>
          <p:nvPr/>
        </p:nvGraphicFramePr>
        <p:xfrm>
          <a:off xmlns:a="http://schemas.openxmlformats.org/drawingml/2006/main" x="723900" y="2171700"/>
          <a:ext xmlns:a="http://schemas.openxmlformats.org/drawingml/2006/main" cx="107442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2381250"/>
                <a:gridCol w="2381250"/>
                <a:gridCol w="2381250"/>
                <a:gridCol w="2457450"/>
              </a:tblGrid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</a:t>
                      </a:r>
                    </a:p>
                  </a:txBody>
                  <a:tcPr marL="91440" marR="91440" marT="45720" marB="45720" anchor="ctr">
                    <a:solidFill>
                      <a:srgbClr val="173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정답 자세</a:t>
                      </a:r>
                    </a:p>
                  </a:txBody>
                  <a:tcPr marL="91440" marR="91440" marT="45720" marB="45720" anchor="ctr">
                    <a:solidFill>
                      <a:srgbClr val="173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예측</a:t>
                      </a:r>
                    </a:p>
                  </a:txBody>
                  <a:tcPr marL="91440" marR="91440" marT="45720" marB="45720" anchor="ctr">
                    <a:solidFill>
                      <a:srgbClr val="173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확신도</a:t>
                      </a:r>
                    </a:p>
                  </a:txBody>
                  <a:tcPr marL="91440" marR="91440" marT="45720" marB="45720" anchor="ctr">
                    <a:solidFill>
                      <a:srgbClr val="1734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7345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왼쪽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오른쪽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정지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…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순서를 섞어 반복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7FB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solidFill>
                      <a:srgbClr val="0B1B3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F414C-5C5B-49A3-95BE-4DED5A10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첫 정확도 = 맞힌 횟수 ÷ 10 × 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FB01A-1A20-499C-A25F-F5F263B9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38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예: 7번 성공 → 70%</a:t>
            </a:r>
          </a:p>
        </p:txBody>
      </p:sp>
    </p:spTree>
    <p:extLst>
      <p:ext uri="{BB962C8B-B14F-4D97-AF65-F5344CB8AC3E}">
        <p14:creationId xmlns:p14="http://schemas.microsoft.com/office/powerpoint/2010/main" val="7097589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3AF77-7D2F-422C-83EB-B7AF0D00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61CB7-B05E-45C7-AEE9-1726DB0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오류 한 가지를 골라 데이터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79CBD-7565-434A-A75B-9C9D58D2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E42F7-281F-4C18-8699-B6CF3C7F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ACBC0-1899-42B0-914F-B7083A6B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59F45-E09E-4B26-8D2D-F2C1092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5C8B8"/>
                </a:solidFill>
                <a:latin typeface="Noto Sans KR"/>
                <a:ea typeface="Noto Sans KR"/>
                <a:cs typeface="Noto Sans KR"/>
              </a:rPr>
              <a:t>관찰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BD0A7-56EC-4208-A11D-4EA930EB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어떤 자세를</a:t>
            </a:r>
          </a:p>
          <a:p xmlns:a="http://schemas.openxmlformats.org/drawingml/2006/main">
            <a:pPr algn="l">
              <a:def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자주 틀렸나?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2A826-A260-4595-927F-09B481B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BCAEF-E99B-4455-840E-37F8906F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9B9FF"/>
                </a:solidFill>
                <a:latin typeface="Noto Sans KR"/>
                <a:ea typeface="Noto Sans KR"/>
                <a:cs typeface="Noto Sans KR"/>
              </a:rPr>
              <a:t>가설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4BFCB-B956-4BD9-9ECD-40F701CD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왜 헷갈렸을까?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0455E-0DBC-4016-BA83-E7D5EA62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팔 각도가 비슷함</a:t>
            </a:r>
          </a:p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한 사람의 데이터가 많음</a:t>
            </a:r>
          </a:p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몸 위치가 한쪽에 치우침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1354C-0957-4BF5-9F00-C474266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6669A-BC03-4E1D-86FB-2FEFB146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66D0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66D0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A66D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7FA11-41D6-48E9-88BB-0660D919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조건 하나만</a:t>
            </a:r>
          </a:p>
          <a:p xmlns:a="http://schemas.openxmlformats.org/drawingml/2006/main">
            <a:pPr algn="l">
              <a:def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바꿔서 보강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857FB-94B0-4897-9225-725DF503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틀린 자세 중심으로</a:t>
            </a:r>
          </a:p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10개 이상 추가 수집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35852-1219-40EA-9208-D34A5003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E3A12-EF3C-484D-BF0F-608F6249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098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8D68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8D68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58D68D"/>
                </a:solidFill>
                <a:latin typeface="Noto Sans KR"/>
                <a:ea typeface="Noto Sans KR"/>
                <a:cs typeface="Noto Sans KR"/>
              </a:rPr>
              <a:t>재시험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9E31D-6CC4-48F7-999F-D4A630BD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8130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22"/>
          </a:bodyPr>
          <a:lstStyle xmlns:a="http://schemas.openxmlformats.org/drawingml/2006/main">
            <a:defPPr algn="ctr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같은 방식으로</a:t>
            </a:r>
          </a:p>
          <a:p xmlns:a="http://schemas.openxmlformats.org/drawingml/2006/main">
            <a:pPr algn="ctr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10번 시험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0F1C2-71CA-4B04-B4AC-68CFFCD3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719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향상 폭</a:t>
            </a:r>
          </a:p>
          <a:p xmlns:a="http://schemas.openxmlformats.org/drawingml/2006/main">
            <a:pPr algn="ctr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재시험 − 첫 시험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6B7BF-815D-437D-9B99-B9E95239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10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rPr>
              <a:t>좋은 실험은 한 번에 한 조건을 바꿉니다.</a:t>
            </a:r>
          </a:p>
        </p:txBody>
      </p:sp>
    </p:spTree>
    <p:extLst>
      <p:ext uri="{BB962C8B-B14F-4D97-AF65-F5344CB8AC3E}">
        <p14:creationId xmlns:p14="http://schemas.microsoft.com/office/powerpoint/2010/main" val="10689229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E06D8-5F4D-4C0B-A9B2-ABD9B885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74D24-4614-478D-8244-76862348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다양한 사람에게 잘 작동하는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DEE2B-3E5C-46C1-9BD9-C8332C55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E9699-B9E9-420E-ABC8-A6289E91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B165D-9C69-4D4A-8D01-A71315C1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220EC-8564-4748-9B88-530B7830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같은 자세도 사람마다 다르게 보입니다.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18653-A502-47D2-B892-D6C168D7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C9BB3-3508-48C9-8A1B-D579CC32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키와 팔 길이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1C6AF-C1CF-46C1-A00E-42BB26F8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EAF46-E857-4C74-80D8-0B178179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옷의 모양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A7ED8-07C4-4FB7-B864-6586C642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E3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5844B-FD90-4776-B5D9-42D82D21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움직임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34BA2-B0AC-4987-92D8-425C99D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B58BA-3E14-428B-BC8A-6CACC224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카메라와의 거리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B0AAD-FE8C-47E9-9BC8-AD2F838A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190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F82CD-5E51-4E99-A97B-B822DF31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C857"/>
                </a:solidFill>
                <a:latin typeface="Noto Sans KR"/>
                <a:ea typeface="Noto Sans KR"/>
                <a:cs typeface="Noto Sans KR"/>
              </a:rPr>
              <a:t>책임 있는 데이터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DAA04-5061-45AF-A817-335C7C67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모둠원 모두 참여</a:t>
            </a:r>
          </a:p>
          <a:p xmlns:a="http://schemas.openxmlformats.org/drawingml/2006/main">
            <a:pPr algn="l">
              <a:defRPr sz="1500" b="0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필요한 관절 좌표만 사용</a:t>
            </a:r>
          </a:p>
          <a:p xmlns:a="http://schemas.openxmlformats.org/drawingml/2006/main">
            <a:pPr algn="l">
              <a:defRPr sz="1500" b="0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얼굴 사진과 영상은 저장하지 않음</a:t>
            </a:r>
          </a:p>
          <a:p xmlns:a="http://schemas.openxmlformats.org/drawingml/2006/main">
            <a:pPr algn="l">
              <a:defRPr sz="1500" b="0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활동이 끝나면 전체 초기화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0D398-7025-4C2B-B5CE-C75BE899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054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성능이 낮다면 사람보다 데이터를 먼저 점검합니다.</a:t>
            </a:r>
          </a:p>
        </p:txBody>
      </p:sp>
    </p:spTree>
    <p:extLst>
      <p:ext uri="{BB962C8B-B14F-4D97-AF65-F5344CB8AC3E}">
        <p14:creationId xmlns:p14="http://schemas.microsoft.com/office/powerpoint/2010/main" val="463721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1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FCEB7-F5A4-412A-AEA4-16C162CB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54687-4FE7-4D18-B547-78441E6D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2차시 · 사용자 문제를 고르는 진로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8B9A5-836C-4D46-9C69-C5F374A7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모둠마다 다른 의뢰를 선택합니다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6D8E3-F7A5-438D-850F-47DDFE25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B6D6E-62ED-4C1F-BEC3-E5AF14E2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5A719-4333-4623-897C-3E018686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882A7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99DE8-ADD2-495F-A67A-777A86925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080c4329e44e6"/>
          <a:srcRect xmlns:a="http://schemas.openxmlformats.org/drawingml/2006/main" l="0" t="11091" r="0" b="11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057400"/>
            <a:ext cx="7191375" cy="38862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149C4-9BEE-4297-A872-8372568F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게임 회사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B6388-9CCA-4761-ADF2-B13B0F19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52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rPr>
              <a:t>병원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99B43-BA44-4D0B-81C7-D63120B9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C857"/>
                </a:solidFill>
                <a:latin typeface="Noto Sans KR"/>
                <a:ea typeface="Noto Sans KR"/>
                <a:cs typeface="Noto Sans KR"/>
              </a:rPr>
              <a:t>스마트홈 회사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9C138-D71C-466E-8CF0-DD03FD67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14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58D68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8D68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8D68D"/>
                </a:solidFill>
                <a:latin typeface="Noto Sans KR"/>
                <a:ea typeface="Noto Sans KR"/>
                <a:cs typeface="Noto Sans KR"/>
              </a:rPr>
              <a:t>공연 기획사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E0911-F87D-423C-8425-8C810281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76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접근성 연구소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AD68B-B3E8-4BEC-9172-A24CE8C1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76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89B9FF"/>
                </a:solidFill>
                <a:latin typeface="Noto Sans KR"/>
                <a:ea typeface="Noto Sans KR"/>
                <a:cs typeface="Noto Sans KR"/>
              </a:rPr>
              <a:t>스포츠 분석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02092-00D9-4C37-8FEC-70AAF450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6EAD0-FC57-44F7-86ED-DADFD024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AFC4E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FC4E5"/>
                </a:solidFill>
                <a:latin typeface="Noto Sans KR"/>
                <a:ea typeface="Noto Sans KR"/>
                <a:cs typeface="Noto Sans KR"/>
              </a:rPr>
              <a:t>선택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16DF0-55F8-4BC6-A714-F4CD1C1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0540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누가 사용하는가?</a:t>
            </a:r>
          </a:p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어떤 불편을 해결하는가?</a:t>
            </a:r>
          </a:p>
          <a:p xmlns:a="http://schemas.openxmlformats.org/drawingml/2006/main">
            <a:pPr algn="l">
              <a:def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7FBFF"/>
                </a:solidFill>
                <a:latin typeface="Noto Sans KR"/>
                <a:ea typeface="Noto Sans KR"/>
                <a:cs typeface="Noto Sans KR"/>
              </a:rPr>
              <a:t>세 동작으로 표현할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4234754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19A35-9141-4320-92EA-4F35BB9E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04463-2594-417F-A8F3-C0403A33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모션 도구 프로토타입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E1B85-CB5D-4495-9329-16AD252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같은 AI 기술을 서로 다른 사용자 문제에 적용합니다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99778-80C3-49A7-B4FF-C207846D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FC042-3E48-4B5D-93B8-48577F8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CAC6A-1972-4D5C-AB0C-B63AF5DD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94637-A66C-48A9-B0DF-EFFA31E7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D3D6C-EC1B-4A08-BA49-A6F404ED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 algn="ctr">
              <a:def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5DEA3-1BDA-4EF0-A6FE-B9BD1FDE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사용자 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95785-8147-4373-A19B-86784377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누가 언제</a:t>
            </a:r>
          </a:p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사용하는가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8BB1A-E7F2-4D1E-BD58-3FF3DFDD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95550"/>
            <a:ext cx="184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4AA28-AF0C-48EB-ACDD-BA3F5629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D5E0B-8B20-4105-AB8D-DBE22BF1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 algn="ctr">
              <a:def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97DDA-5F54-412D-A458-AB77CA4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동작 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0241B-79AA-4C4C-BCFE-ACA6C67C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제품 명령과</a:t>
            </a:r>
          </a:p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몸동작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F0F9F-472E-4433-A738-E01EB22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184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ADA7D-C9B9-4926-B00F-B98BD90F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87BC5-8984-4463-880D-98AA57A8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 algn="ctr">
              <a:def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66007-ADD2-453C-90A6-9DAE373A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사용자 시험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D52EE-AC08-4F6C-90CC-A82C6B69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성공과 오류를</a:t>
            </a:r>
          </a:p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직접 기록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B6142-F565-4765-9835-1F1A1BCA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95550"/>
            <a:ext cx="184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9B8BC-B0E2-41CF-A47D-D6023790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6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829F5-3D43-4F4D-9E08-2EA5BFAC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 algn="ctr">
              <a:def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75D81-3BCB-451B-8C79-E91B5D7A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제안 발표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89746-A564-4966-9996-B91C4915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147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문제·동작·개선을</a:t>
            </a:r>
          </a:p>
          <a:p xmlns:a="http://schemas.openxmlformats.org/drawingml/2006/main">
            <a:pPr algn="l">
              <a:def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한 장으로 설명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A81768-532C-4BDB-B1BB-EC006250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43BC0-3C2F-481D-AB86-94218C6D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완성 문장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A28A26-D356-4D5F-B1AC-B1699D4D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rPr>
              <a:t>우리 모둠은 ______ 사용자를 위해 ______ 모션 도구를 만들었습니다.</a:t>
            </a:r>
          </a:p>
        </p:txBody>
      </p:sp>
    </p:spTree>
    <p:extLst>
      <p:ext uri="{BB962C8B-B14F-4D97-AF65-F5344CB8AC3E}">
        <p14:creationId xmlns:p14="http://schemas.microsoft.com/office/powerpoint/2010/main" val="15055929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D9761-0CFA-4C97-B8C9-5E64FD23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7E3D4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A7DFF-CAA7-4AFA-9270-A44DE78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모션AI 전문가의 다음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B8C35-2E11-4CB6-93AE-B38BD231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91E16-7672-4732-90F9-D31C1ED9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모션AI 연구소 · 중학교 진로체험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3B3B3-EAAC-466E-881A-8654F3F9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AA0B8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1AD40-D744-4DBE-B96F-66004F54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5C8B8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5E5F5-6247-4E1B-9EB1-A9CD4E7E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카메라와 센서에서</a:t>
            </a:r>
          </a:p>
          <a:p xmlns:a="http://schemas.openxmlformats.org/drawingml/2006/main">
            <a: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움직임을 정확히 읽는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7676B-D3AC-4BB7-B2C6-4EA8DA0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89B9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9B9FF"/>
                </a:solidFill>
                <a:latin typeface="Noto Sans KR"/>
                <a:ea typeface="Noto Sans KR"/>
                <a:cs typeface="Noto Sans KR"/>
              </a:rPr>
              <a:t>활용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E9AEB-A156-4FD2-B1F1-18C1D885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게임·스포츠·재활에서</a:t>
            </a:r>
          </a:p>
          <a:p xmlns:a="http://schemas.openxmlformats.org/drawingml/2006/main">
            <a: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사람에게 도움이 되는 방법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2B2AD-A220-4C56-8CCC-6BD42814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66D0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66D0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A66D00"/>
                </a:solidFill>
                <a:latin typeface="Noto Sans KR"/>
                <a:ea typeface="Noto Sans KR"/>
                <a:cs typeface="Noto Sans KR"/>
              </a:rPr>
              <a:t>책임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1483B-703E-463B-A289-D14ECF30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다양한 사람에게 공정하고</a:t>
            </a:r>
          </a:p>
          <a:p xmlns:a="http://schemas.openxmlformats.org/drawingml/2006/main">
            <a:pPr algn="l">
              <a:def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개인정보를 지키는 방법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4A67B-E470-44F4-ACCB-D353E12D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29294-1DC0-4116-B608-A7BEEE65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0718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0718C"/>
                </a:solidFill>
                <a:latin typeface="Noto Sans KR"/>
                <a:ea typeface="Noto Sans KR"/>
                <a:cs typeface="Noto Sans KR"/>
              </a:rPr>
              <a:t>나가기 질문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21BD6-1CF6-4D1B-8A63-098AE02B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A1830"/>
                </a:solidFill>
                <a:latin typeface="Noto Sans KR"/>
                <a:ea typeface="Noto Sans KR"/>
                <a:cs typeface="Noto Sans KR"/>
              </a:rPr>
              <a:t>우리 모둠의 AI가 좋아진 이유를 데이터로 설명해 보세요.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EB2FC-3505-424D-894E-947A9004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149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5C8B8"/>
                </a:solidFill>
                <a:latin typeface="Noto Sans KR"/>
                <a:ea typeface="Noto Sans KR"/>
                <a:cs typeface="Noto Sans KR"/>
              </a:rPr>
              <a:t>한 문장</a:t>
            </a:r>
          </a:p>
        </p:txBody>
      </p:sp>
    </p:spTree>
    <p:extLst>
      <p:ext uri="{BB962C8B-B14F-4D97-AF65-F5344CB8AC3E}">
        <p14:creationId xmlns:p14="http://schemas.microsoft.com/office/powerpoint/2010/main" val="903141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2026-10-07T20:07:14.0330000Z</dcterms:created>
  <dcterms:modified xsi:type="dcterms:W3CDTF">2026-10-07T20:07:14.0330000Z</dcterms:modified>
</coreProperties>
</file>